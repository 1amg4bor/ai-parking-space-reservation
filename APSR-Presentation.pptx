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Montserrat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Montserrat-regular.fnt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italic.fntdata"/><Relationship Id="rId14" Type="http://schemas.openxmlformats.org/officeDocument/2006/relationships/font" Target="fonts/Montserrat-bold.fntdata"/><Relationship Id="rId17" Type="http://schemas.openxmlformats.org/officeDocument/2006/relationships/font" Target="fonts/Lato-regular.fntdata"/><Relationship Id="rId16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583cc4334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d583cc4334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d583cc4334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d583cc4334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d583cc4334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d583cc4334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d583cc4334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d583cc4334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583cc4334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d583cc4334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83cc4334_0_7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83cc4334_0_7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312000" y="1578400"/>
            <a:ext cx="55584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APSR</a:t>
            </a:r>
            <a:endParaRPr b="1" u="sng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333"/>
              <a:t>AI assisted</a:t>
            </a:r>
            <a:br>
              <a:rPr lang="en" sz="3333"/>
            </a:br>
            <a:r>
              <a:rPr lang="en" sz="3333"/>
              <a:t>Parking Space Reservation</a:t>
            </a:r>
            <a:endParaRPr sz="3333"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4507200" y="3924925"/>
            <a:ext cx="43632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AI-powered chatbot app</a:t>
            </a:r>
            <a:br>
              <a:rPr lang="en"/>
            </a:br>
            <a:r>
              <a:rPr lang="en"/>
              <a:t>that makes it easier to organize your trips. 🛫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4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Intuitive User Interface</a:t>
            </a:r>
            <a:endParaRPr/>
          </a:p>
        </p:txBody>
      </p:sp>
      <p:pic>
        <p:nvPicPr>
          <p:cNvPr id="141" name="Google Shape;141;p14"/>
          <p:cNvPicPr preferRelativeResize="0"/>
          <p:nvPr/>
        </p:nvPicPr>
        <p:blipFill rotWithShape="1">
          <a:blip r:embed="rId3">
            <a:alphaModFix/>
          </a:blip>
          <a:srcRect b="2812" l="3380" r="4010" t="4389"/>
          <a:stretch/>
        </p:blipFill>
        <p:spPr>
          <a:xfrm>
            <a:off x="2352375" y="972675"/>
            <a:ext cx="5837648" cy="3855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1297500" y="393750"/>
            <a:ext cx="7038900" cy="5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Interaction with the AI chatbot</a:t>
            </a:r>
            <a:endParaRPr/>
          </a:p>
        </p:txBody>
      </p:sp>
      <p:pic>
        <p:nvPicPr>
          <p:cNvPr id="147" name="Google Shape;14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2100" y="2462397"/>
            <a:ext cx="5520326" cy="243875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pic>
        <p:nvPicPr>
          <p:cNvPr id="148" name="Google Shape;14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0326" y="1591200"/>
            <a:ext cx="4497675" cy="16287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2520000" dist="571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/>
          <p:nvPr>
            <p:ph type="title"/>
          </p:nvPr>
        </p:nvSpPr>
        <p:spPr>
          <a:xfrm>
            <a:off x="3996000" y="393750"/>
            <a:ext cx="4665600" cy="13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Detailed, informative results</a:t>
            </a:r>
            <a:br>
              <a:rPr lang="en"/>
            </a:br>
            <a:r>
              <a:rPr lang="en"/>
              <a:t>&amp; </a:t>
            </a:r>
            <a:br>
              <a:rPr lang="en"/>
            </a:br>
            <a:r>
              <a:rPr lang="en"/>
              <a:t>Guardrail intervention</a:t>
            </a:r>
            <a:endParaRPr/>
          </a:p>
        </p:txBody>
      </p:sp>
      <p:pic>
        <p:nvPicPr>
          <p:cNvPr id="154" name="Google Shape;15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551" y="471175"/>
            <a:ext cx="3306451" cy="4013950"/>
          </a:xfrm>
          <a:prstGeom prst="rect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2520000" dist="57150">
              <a:srgbClr val="000000">
                <a:alpha val="50000"/>
              </a:srgbClr>
            </a:outerShdw>
          </a:effectLst>
        </p:spPr>
      </p:pic>
      <p:pic>
        <p:nvPicPr>
          <p:cNvPr id="155" name="Google Shape;155;p16"/>
          <p:cNvPicPr preferRelativeResize="0"/>
          <p:nvPr/>
        </p:nvPicPr>
        <p:blipFill rotWithShape="1">
          <a:blip r:embed="rId4">
            <a:alphaModFix/>
          </a:blip>
          <a:srcRect b="0" l="0" r="4205" t="0"/>
          <a:stretch/>
        </p:blipFill>
        <p:spPr>
          <a:xfrm>
            <a:off x="2635200" y="2769375"/>
            <a:ext cx="6235200" cy="1952775"/>
          </a:xfrm>
          <a:prstGeom prst="rect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13260000" dist="571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/>
          <p:nvPr>
            <p:ph type="title"/>
          </p:nvPr>
        </p:nvSpPr>
        <p:spPr>
          <a:xfrm>
            <a:off x="1297500" y="393750"/>
            <a:ext cx="7038900" cy="57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Parking lot reservation</a:t>
            </a:r>
            <a:endParaRPr/>
          </a:p>
        </p:txBody>
      </p:sp>
      <p:pic>
        <p:nvPicPr>
          <p:cNvPr id="161" name="Google Shape;16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75" y="1107650"/>
            <a:ext cx="5569825" cy="2898176"/>
          </a:xfrm>
          <a:prstGeom prst="rect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pic>
        <p:nvPicPr>
          <p:cNvPr id="162" name="Google Shape;16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92450" y="2429700"/>
            <a:ext cx="4622775" cy="2419550"/>
          </a:xfrm>
          <a:prstGeom prst="rect">
            <a:avLst/>
          </a:prstGeom>
          <a:noFill/>
          <a:ln cap="flat" cmpd="sng" w="9525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13260000" dist="952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Saved reservation</a:t>
            </a:r>
            <a:endParaRPr/>
          </a:p>
        </p:txBody>
      </p:sp>
      <p:pic>
        <p:nvPicPr>
          <p:cNvPr id="168" name="Google Shape;16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2438" y="991325"/>
            <a:ext cx="7937775" cy="2603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0400" y="3003149"/>
            <a:ext cx="5628725" cy="1890250"/>
          </a:xfrm>
          <a:prstGeom prst="rect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13260000" dist="571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 txBox="1"/>
          <p:nvPr>
            <p:ph type="title"/>
          </p:nvPr>
        </p:nvSpPr>
        <p:spPr>
          <a:xfrm>
            <a:off x="1297500" y="393750"/>
            <a:ext cx="7038900" cy="65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Evaluation</a:t>
            </a:r>
            <a:endParaRPr/>
          </a:p>
        </p:txBody>
      </p:sp>
      <p:pic>
        <p:nvPicPr>
          <p:cNvPr id="175" name="Google Shape;17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000" y="1687875"/>
            <a:ext cx="8759251" cy="142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/>
        </p:nvSpPr>
        <p:spPr>
          <a:xfrm>
            <a:off x="288625" y="3290450"/>
            <a:ext cx="8666400" cy="14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Metrics</a:t>
            </a:r>
            <a:endParaRPr b="1" sz="1300" u="sng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 u="sng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Char char="●"/>
            </a:pPr>
            <a:r>
              <a:rPr b="1" lang="en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Retrieval accuracy (context_recall)</a:t>
            </a:r>
            <a:r>
              <a:rPr lang="en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i="1" lang="en" sz="1100">
                <a:solidFill>
                  <a:srgbClr val="B7B7B7"/>
                </a:solidFill>
                <a:latin typeface="Lato"/>
                <a:ea typeface="Lato"/>
                <a:cs typeface="Lato"/>
                <a:sym typeface="Lato"/>
              </a:rPr>
              <a:t>Assesses whether the retrieval step returns the correct supporting documents.</a:t>
            </a:r>
            <a:endParaRPr i="1" sz="1100">
              <a:solidFill>
                <a:srgbClr val="B7B7B7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Char char="●"/>
            </a:pPr>
            <a:r>
              <a:rPr b="1" lang="en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Faithfulness</a:t>
            </a:r>
            <a:r>
              <a:rPr lang="en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i="1" lang="en" sz="1100">
                <a:solidFill>
                  <a:srgbClr val="B7B7B7"/>
                </a:solidFill>
                <a:latin typeface="Lato"/>
                <a:ea typeface="Lato"/>
                <a:cs typeface="Lato"/>
                <a:sym typeface="Lato"/>
              </a:rPr>
              <a:t>Checks if the generated answer is grounded in the retrieved context (i.e., not hallucinated).</a:t>
            </a:r>
            <a:endParaRPr i="1" sz="1100">
              <a:solidFill>
                <a:srgbClr val="B7B7B7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Char char="●"/>
            </a:pPr>
            <a:r>
              <a:rPr b="1" lang="en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Answer relevancy</a:t>
            </a:r>
            <a:r>
              <a:rPr lang="en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i="1" lang="en" sz="1100">
                <a:solidFill>
                  <a:srgbClr val="B7B7B7"/>
                </a:solidFill>
                <a:latin typeface="Lato"/>
                <a:ea typeface="Lato"/>
                <a:cs typeface="Lato"/>
                <a:sym typeface="Lato"/>
              </a:rPr>
              <a:t>Evaluates how relevant the generated answer is to the user’s question.</a:t>
            </a:r>
            <a:endParaRPr i="1" sz="1100">
              <a:solidFill>
                <a:srgbClr val="B7B7B7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Char char="●"/>
            </a:pPr>
            <a:r>
              <a:rPr b="1" lang="en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Answer correctness</a:t>
            </a:r>
            <a:r>
              <a:rPr lang="en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i="1" lang="en" sz="1100">
                <a:solidFill>
                  <a:srgbClr val="B7B7B7"/>
                </a:solidFill>
                <a:latin typeface="Lato"/>
                <a:ea typeface="Lato"/>
                <a:cs typeface="Lato"/>
                <a:sym typeface="Lato"/>
              </a:rPr>
              <a:t>Measures if the answer is factually correct, often compared to a ground-truth answer.</a:t>
            </a:r>
            <a:endParaRPr i="1" sz="1100">
              <a:solidFill>
                <a:srgbClr val="B7B7B7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