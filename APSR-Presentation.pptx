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6858000" cy="9144000"/>
  <p:embeddedFontLst>
    <p:embeddedFont>
      <p:font typeface="Lato" panose="020F0502020204030203" pitchFamily="34" charset="0"/>
      <p:regular r:id="rId13"/>
      <p:bold r:id="rId14"/>
      <p:italic r:id="rId15"/>
      <p:boldItalic r:id="rId16"/>
    </p:embeddedFont>
    <p:embeddedFont>
      <p:font typeface="Montserrat" panose="00000500000000000000" pitchFamily="2" charset="0"/>
      <p:regular r:id="rId17"/>
      <p:bold r:id="rId18"/>
      <p:italic r:id="rId19"/>
      <p:boldItalic r:id="rId2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303AA2E-1358-5AA9-6D92-B181E7019280}" v="124" dt="2026-07-27T19:27:08.37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d583cc4334_0_1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d583cc4334_0_1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d583cc4334_0_1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d583cc4334_0_1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d583cc4334_0_1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d583cc4334_0_1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d583cc4334_0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d583cc4334_0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d583cc4334_0_1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d583cc4334_0_1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d583cc4334_0_78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" name="Google Shape;172;g3d583cc4334_0_78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5400000">
            <a:off x="7500300" y="505"/>
            <a:ext cx="1643700" cy="1643700"/>
          </a:xfrm>
          <a:prstGeom prst="diagStripe">
            <a:avLst>
              <a:gd name="adj" fmla="val 0"/>
            </a:avLst>
          </a:prstGeom>
          <a:solidFill>
            <a:schemeClr val="lt1">
              <a:alpha val="303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490"/>
            <a:ext cx="5153705" cy="5134399"/>
            <a:chOff x="0" y="75"/>
            <a:chExt cx="5153705" cy="515295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455" y="-225"/>
              <a:ext cx="5152800" cy="51537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150" y="1145825"/>
              <a:ext cx="3996600" cy="3996900"/>
            </a:xfrm>
            <a:prstGeom prst="diagStripe">
              <a:avLst>
                <a:gd name="adj" fmla="val 58774"/>
              </a:avLst>
            </a:prstGeom>
            <a:solidFill>
              <a:schemeClr val="lt1">
                <a:alpha val="303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-5400000">
              <a:off x="1646" y="-75"/>
              <a:ext cx="2299800" cy="23001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flipH="1">
              <a:off x="652821" y="590035"/>
              <a:ext cx="2300100" cy="2299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" name="Google Shape;16;p2"/>
          <p:cNvSpPr txBox="1">
            <a:spLocks noGrp="1"/>
          </p:cNvSpPr>
          <p:nvPr>
            <p:ph type="ctrTitle"/>
          </p:nvPr>
        </p:nvSpPr>
        <p:spPr>
          <a:xfrm>
            <a:off x="3537150" y="1578400"/>
            <a:ext cx="50175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subTitle" idx="1"/>
          </p:nvPr>
        </p:nvSpPr>
        <p:spPr>
          <a:xfrm>
            <a:off x="5083950" y="3924925"/>
            <a:ext cx="34707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21" name="Google Shape;21;p3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26;p3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28;p3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29;p3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30;p3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31;p3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32;p3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" name="Google Shape;33;p3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4" name="Google Shape;34;p3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3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" name="Google Shape;36;p3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7" name="Google Shape;37;p3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8" name="Google Shape;38;p3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9" name="Google Shape;39;p3"/>
          <p:cNvSpPr txBox="1">
            <a:spLocks noGrp="1"/>
          </p:cNvSpPr>
          <p:nvPr>
            <p:ph type="title"/>
          </p:nvPr>
        </p:nvSpPr>
        <p:spPr>
          <a:xfrm>
            <a:off x="823850" y="2053000"/>
            <a:ext cx="4587000" cy="11487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oogle Shape;42;p4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43" name="Google Shape;43;p4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4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6" name="Google Shape;46;p4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70389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49;p5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0" name="Google Shape;50;p5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5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53" name="Google Shape;53;p5"/>
          <p:cNvSpPr txBox="1">
            <a:spLocks noGrp="1"/>
          </p:cNvSpPr>
          <p:nvPr>
            <p:ph type="body" idx="1"/>
          </p:nvPr>
        </p:nvSpPr>
        <p:spPr>
          <a:xfrm>
            <a:off x="1297500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5"/>
          <p:cNvSpPr txBox="1">
            <a:spLocks noGrp="1"/>
          </p:cNvSpPr>
          <p:nvPr>
            <p:ph type="body" idx="2"/>
          </p:nvPr>
        </p:nvSpPr>
        <p:spPr>
          <a:xfrm>
            <a:off x="4933221" y="1567550"/>
            <a:ext cx="3403200" cy="291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" name="Google Shape;57;p6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58" name="Google Shape;58;p6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59;p6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0" name="Google Shape;60;p6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1" name="Google Shape;61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3" name="Google Shape;63;p7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64" name="Google Shape;64;p7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7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3798900" cy="1493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67" name="Google Shape;67;p7"/>
          <p:cNvSpPr txBox="1">
            <a:spLocks noGrp="1"/>
          </p:cNvSpPr>
          <p:nvPr>
            <p:ph type="body" idx="1"/>
          </p:nvPr>
        </p:nvSpPr>
        <p:spPr>
          <a:xfrm>
            <a:off x="1297500" y="1972550"/>
            <a:ext cx="3798900" cy="2415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8" name="Google Shape;6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8"/>
          <p:cNvGrpSpPr/>
          <p:nvPr/>
        </p:nvGrpSpPr>
        <p:grpSpPr>
          <a:xfrm>
            <a:off x="4406400" y="0"/>
            <a:ext cx="4737600" cy="5143500"/>
            <a:chOff x="4406400" y="0"/>
            <a:chExt cx="4737600" cy="5143500"/>
          </a:xfrm>
        </p:grpSpPr>
        <p:sp>
          <p:nvSpPr>
            <p:cNvPr id="71" name="Google Shape;71;p8"/>
            <p:cNvSpPr/>
            <p:nvPr/>
          </p:nvSpPr>
          <p:spPr>
            <a:xfrm rot="5400000">
              <a:off x="4407900" y="-1500"/>
              <a:ext cx="47346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72;p8"/>
            <p:cNvSpPr/>
            <p:nvPr/>
          </p:nvSpPr>
          <p:spPr>
            <a:xfrm rot="5400000">
              <a:off x="4840825" y="6000"/>
              <a:ext cx="42987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73;p8"/>
            <p:cNvSpPr/>
            <p:nvPr/>
          </p:nvSpPr>
          <p:spPr>
            <a:xfrm rot="-5400000">
              <a:off x="5618399" y="123664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74;p8"/>
            <p:cNvSpPr/>
            <p:nvPr/>
          </p:nvSpPr>
          <p:spPr>
            <a:xfrm flipH="1">
              <a:off x="5849857" y="144407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75;p8"/>
            <p:cNvSpPr/>
            <p:nvPr/>
          </p:nvSpPr>
          <p:spPr>
            <a:xfrm rot="-5400000">
              <a:off x="5987081" y="246974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8"/>
            <p:cNvSpPr/>
            <p:nvPr/>
          </p:nvSpPr>
          <p:spPr>
            <a:xfrm flipH="1">
              <a:off x="6222115" y="267717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77;p8"/>
            <p:cNvSpPr/>
            <p:nvPr/>
          </p:nvSpPr>
          <p:spPr>
            <a:xfrm rot="-5400000">
              <a:off x="6675341" y="186224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8"/>
            <p:cNvSpPr/>
            <p:nvPr/>
          </p:nvSpPr>
          <p:spPr>
            <a:xfrm flipH="1">
              <a:off x="6908099" y="206968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8"/>
            <p:cNvSpPr/>
            <p:nvPr/>
          </p:nvSpPr>
          <p:spPr>
            <a:xfrm rot="-5400000">
              <a:off x="6861141" y="247808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8"/>
            <p:cNvSpPr/>
            <p:nvPr/>
          </p:nvSpPr>
          <p:spPr>
            <a:xfrm flipH="1">
              <a:off x="7965266" y="269319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8"/>
            <p:cNvSpPr/>
            <p:nvPr/>
          </p:nvSpPr>
          <p:spPr>
            <a:xfrm flipH="1">
              <a:off x="8145082" y="330903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 rot="-5400000">
              <a:off x="7047599" y="309534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 flipH="1">
              <a:off x="7276649" y="330278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" name="Google Shape;84;p8"/>
            <p:cNvSpPr/>
            <p:nvPr/>
          </p:nvSpPr>
          <p:spPr>
            <a:xfrm rot="-5400000">
              <a:off x="7227414" y="37111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5" name="Google Shape;85;p8"/>
            <p:cNvSpPr/>
            <p:nvPr/>
          </p:nvSpPr>
          <p:spPr>
            <a:xfrm flipH="1">
              <a:off x="7462448" y="391862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6" name="Google Shape;86;p8"/>
            <p:cNvSpPr/>
            <p:nvPr/>
          </p:nvSpPr>
          <p:spPr>
            <a:xfrm rot="-5400000">
              <a:off x="8102491" y="37188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 flipH="1">
              <a:off x="8334533" y="392629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 rot="-5400000">
              <a:off x="8288290" y="433470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9" name="Google Shape;89;p8"/>
          <p:cNvSpPr txBox="1">
            <a:spLocks noGrp="1"/>
          </p:cNvSpPr>
          <p:nvPr>
            <p:ph type="title"/>
          </p:nvPr>
        </p:nvSpPr>
        <p:spPr>
          <a:xfrm>
            <a:off x="823850" y="866775"/>
            <a:ext cx="4587000" cy="3521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9"/>
          <p:cNvGrpSpPr/>
          <p:nvPr/>
        </p:nvGrpSpPr>
        <p:grpSpPr>
          <a:xfrm>
            <a:off x="0" y="381001"/>
            <a:ext cx="1037850" cy="1016287"/>
            <a:chOff x="0" y="381001"/>
            <a:chExt cx="1037850" cy="1016287"/>
          </a:xfrm>
        </p:grpSpPr>
        <p:sp>
          <p:nvSpPr>
            <p:cNvPr id="93" name="Google Shape;93;p9"/>
            <p:cNvSpPr/>
            <p:nvPr/>
          </p:nvSpPr>
          <p:spPr>
            <a:xfrm rot="-5400000">
              <a:off x="0" y="381001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4" name="Google Shape;94;p9"/>
            <p:cNvSpPr/>
            <p:nvPr/>
          </p:nvSpPr>
          <p:spPr>
            <a:xfrm flipH="1">
              <a:off x="229050" y="588489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95" name="Google Shape;95;p9"/>
          <p:cNvSpPr txBox="1">
            <a:spLocks noGrp="1"/>
          </p:cNvSpPr>
          <p:nvPr>
            <p:ph type="title"/>
          </p:nvPr>
        </p:nvSpPr>
        <p:spPr>
          <a:xfrm>
            <a:off x="1297500" y="1658325"/>
            <a:ext cx="3036300" cy="1751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6" name="Google Shape;96;p9"/>
          <p:cNvSpPr txBox="1">
            <a:spLocks noGrp="1"/>
          </p:cNvSpPr>
          <p:nvPr>
            <p:ph type="subTitle" idx="1"/>
          </p:nvPr>
        </p:nvSpPr>
        <p:spPr>
          <a:xfrm>
            <a:off x="1297500" y="3538000"/>
            <a:ext cx="30363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>
            <a:endParaRPr/>
          </a:p>
        </p:txBody>
      </p:sp>
      <p:sp>
        <p:nvSpPr>
          <p:cNvPr id="97" name="Google Shape;97;p9"/>
          <p:cNvSpPr txBox="1">
            <a:spLocks noGrp="1"/>
          </p:cNvSpPr>
          <p:nvPr>
            <p:ph type="body" idx="2"/>
          </p:nvPr>
        </p:nvSpPr>
        <p:spPr>
          <a:xfrm>
            <a:off x="4648200" y="1696600"/>
            <a:ext cx="3676800" cy="234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98" name="Google Shape;98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0"/>
          <p:cNvGrpSpPr/>
          <p:nvPr/>
        </p:nvGrpSpPr>
        <p:grpSpPr>
          <a:xfrm>
            <a:off x="0" y="4128572"/>
            <a:ext cx="698925" cy="684657"/>
            <a:chOff x="0" y="3785672"/>
            <a:chExt cx="698925" cy="684657"/>
          </a:xfrm>
        </p:grpSpPr>
        <p:sp>
          <p:nvSpPr>
            <p:cNvPr id="101" name="Google Shape;101;p10"/>
            <p:cNvSpPr/>
            <p:nvPr/>
          </p:nvSpPr>
          <p:spPr>
            <a:xfrm rot="-5400000">
              <a:off x="0" y="3785672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10"/>
            <p:cNvSpPr/>
            <p:nvPr/>
          </p:nvSpPr>
          <p:spPr>
            <a:xfrm flipH="1">
              <a:off x="154125" y="3925529"/>
              <a:ext cx="544800" cy="544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962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10"/>
          <p:cNvSpPr txBox="1">
            <a:spLocks noGrp="1"/>
          </p:cNvSpPr>
          <p:nvPr>
            <p:ph type="body" idx="1"/>
          </p:nvPr>
        </p:nvSpPr>
        <p:spPr>
          <a:xfrm>
            <a:off x="812725" y="4305375"/>
            <a:ext cx="6936000" cy="52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104" name="Google Shape;104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11"/>
          <p:cNvGrpSpPr/>
          <p:nvPr/>
        </p:nvGrpSpPr>
        <p:grpSpPr>
          <a:xfrm>
            <a:off x="4406400" y="0"/>
            <a:ext cx="4737600" cy="5143065"/>
            <a:chOff x="4406400" y="0"/>
            <a:chExt cx="4737600" cy="5143065"/>
          </a:xfrm>
        </p:grpSpPr>
        <p:sp>
          <p:nvSpPr>
            <p:cNvPr id="107" name="Google Shape;107;p11"/>
            <p:cNvSpPr/>
            <p:nvPr/>
          </p:nvSpPr>
          <p:spPr>
            <a:xfrm rot="5400000">
              <a:off x="4408200" y="-1800"/>
              <a:ext cx="4734000" cy="4737600"/>
            </a:xfrm>
            <a:prstGeom prst="diagStripe">
              <a:avLst>
                <a:gd name="adj" fmla="val 49469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8" name="Google Shape;108;p11"/>
            <p:cNvSpPr/>
            <p:nvPr/>
          </p:nvSpPr>
          <p:spPr>
            <a:xfrm rot="5400000">
              <a:off x="4841125" y="5700"/>
              <a:ext cx="4298100" cy="4286700"/>
            </a:xfrm>
            <a:prstGeom prst="diagStripe">
              <a:avLst>
                <a:gd name="adj" fmla="val 0"/>
              </a:avLst>
            </a:prstGeom>
            <a:solidFill>
              <a:schemeClr val="lt1">
                <a:alpha val="346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9" name="Google Shape;109;p11"/>
            <p:cNvSpPr/>
            <p:nvPr/>
          </p:nvSpPr>
          <p:spPr>
            <a:xfrm rot="-5400000">
              <a:off x="5618399" y="123646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0" name="Google Shape;110;p11"/>
            <p:cNvSpPr/>
            <p:nvPr/>
          </p:nvSpPr>
          <p:spPr>
            <a:xfrm flipH="1">
              <a:off x="5849857" y="1443956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1" name="Google Shape;111;p11"/>
            <p:cNvSpPr/>
            <p:nvPr/>
          </p:nvSpPr>
          <p:spPr>
            <a:xfrm rot="-5400000">
              <a:off x="5987081" y="24694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2" name="Google Shape;112;p11"/>
            <p:cNvSpPr/>
            <p:nvPr/>
          </p:nvSpPr>
          <p:spPr>
            <a:xfrm flipH="1">
              <a:off x="6222115" y="267695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 rot="-5400000">
              <a:off x="6675341" y="1862018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 flipH="1">
              <a:off x="6908099" y="206950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5" name="Google Shape;115;p11"/>
            <p:cNvSpPr/>
            <p:nvPr/>
          </p:nvSpPr>
          <p:spPr>
            <a:xfrm rot="-5400000">
              <a:off x="6861141" y="247781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6" name="Google Shape;116;p11"/>
            <p:cNvSpPr/>
            <p:nvPr/>
          </p:nvSpPr>
          <p:spPr>
            <a:xfrm flipH="1">
              <a:off x="7965266" y="269296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 flipH="1">
              <a:off x="8145082" y="330875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 rot="-5400000">
              <a:off x="7047599" y="309501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9" name="Google Shape;119;p11"/>
            <p:cNvSpPr/>
            <p:nvPr/>
          </p:nvSpPr>
          <p:spPr>
            <a:xfrm flipH="1">
              <a:off x="7276649" y="3302502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0" name="Google Shape;120;p11"/>
            <p:cNvSpPr/>
            <p:nvPr/>
          </p:nvSpPr>
          <p:spPr>
            <a:xfrm rot="-5400000">
              <a:off x="7227414" y="3710807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1" name="Google Shape;121;p11"/>
            <p:cNvSpPr/>
            <p:nvPr/>
          </p:nvSpPr>
          <p:spPr>
            <a:xfrm flipH="1">
              <a:off x="7462448" y="3918294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2" name="Google Shape;122;p11"/>
            <p:cNvSpPr/>
            <p:nvPr/>
          </p:nvSpPr>
          <p:spPr>
            <a:xfrm rot="-5400000">
              <a:off x="8102491" y="3718473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3" name="Google Shape;123;p11"/>
            <p:cNvSpPr/>
            <p:nvPr/>
          </p:nvSpPr>
          <p:spPr>
            <a:xfrm flipH="1">
              <a:off x="8334533" y="3925960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4" name="Google Shape;124;p11"/>
            <p:cNvSpPr/>
            <p:nvPr/>
          </p:nvSpPr>
          <p:spPr>
            <a:xfrm rot="-5400000">
              <a:off x="8288290" y="4334265"/>
              <a:ext cx="808800" cy="808800"/>
            </a:xfrm>
            <a:prstGeom prst="diagStripe">
              <a:avLst>
                <a:gd name="adj" fmla="val 50000"/>
              </a:avLst>
            </a:prstGeom>
            <a:solidFill>
              <a:schemeClr val="lt1">
                <a:alpha val="7310"/>
              </a:scheme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25" name="Google Shape;125;p11"/>
          <p:cNvSpPr txBox="1">
            <a:spLocks noGrp="1"/>
          </p:cNvSpPr>
          <p:nvPr>
            <p:ph type="title" hasCustomPrompt="1"/>
          </p:nvPr>
        </p:nvSpPr>
        <p:spPr>
          <a:xfrm>
            <a:off x="823850" y="1284675"/>
            <a:ext cx="47760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2pPr>
            <a:lvl3pPr lvl="2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3pPr>
            <a:lvl4pPr lvl="3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4pPr>
            <a:lvl5pPr lvl="4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5pPr>
            <a:lvl6pPr lvl="5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6pPr>
            <a:lvl7pPr lvl="6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7pPr>
            <a:lvl8pPr lvl="7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8pPr>
            <a:lvl9pPr lvl="8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126" name="Google Shape;126;p11"/>
          <p:cNvSpPr txBox="1">
            <a:spLocks noGrp="1"/>
          </p:cNvSpPr>
          <p:nvPr>
            <p:ph type="body" idx="1"/>
          </p:nvPr>
        </p:nvSpPr>
        <p:spPr>
          <a:xfrm>
            <a:off x="823850" y="2643124"/>
            <a:ext cx="4776000" cy="121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focus"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Montserrat"/>
              <a:buNone/>
              <a:defRPr sz="2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Lato"/>
              <a:buChar char="●"/>
              <a:defRPr sz="13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●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○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Lato"/>
              <a:buChar char="■"/>
              <a:defRPr sz="11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3"/>
          <p:cNvSpPr txBox="1">
            <a:spLocks noGrp="1"/>
          </p:cNvSpPr>
          <p:nvPr>
            <p:ph type="ctrTitle"/>
          </p:nvPr>
        </p:nvSpPr>
        <p:spPr>
          <a:xfrm>
            <a:off x="3312000" y="1578400"/>
            <a:ext cx="5558400" cy="157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u="sng"/>
              <a:t>APSR</a:t>
            </a:r>
            <a:endParaRPr b="1" u="sng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333"/>
              <a:t>AI assisted</a:t>
            </a:r>
            <a:br>
              <a:rPr lang="en" sz="3333"/>
            </a:br>
            <a:r>
              <a:rPr lang="en" sz="3333"/>
              <a:t>Parking Space Reservation</a:t>
            </a:r>
            <a:endParaRPr sz="3333"/>
          </a:p>
        </p:txBody>
      </p:sp>
      <p:sp>
        <p:nvSpPr>
          <p:cNvPr id="135" name="Google Shape;135;p13"/>
          <p:cNvSpPr txBox="1">
            <a:spLocks noGrp="1"/>
          </p:cNvSpPr>
          <p:nvPr>
            <p:ph type="subTitle" idx="1"/>
          </p:nvPr>
        </p:nvSpPr>
        <p:spPr>
          <a:xfrm>
            <a:off x="4507200" y="3924925"/>
            <a:ext cx="4363200" cy="506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 AI-powered chatbot app</a:t>
            </a:r>
            <a:br>
              <a:rPr lang="en"/>
            </a:br>
            <a:r>
              <a:rPr lang="en"/>
              <a:t>that makes it easier to organize your trips. 🛫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4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4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Intuitive User Interface</a:t>
            </a:r>
            <a:endParaRPr/>
          </a:p>
        </p:txBody>
      </p:sp>
      <p:pic>
        <p:nvPicPr>
          <p:cNvPr id="141" name="Google Shape;141;p14"/>
          <p:cNvPicPr preferRelativeResize="0"/>
          <p:nvPr/>
        </p:nvPicPr>
        <p:blipFill rotWithShape="1">
          <a:blip r:embed="rId3">
            <a:alphaModFix/>
          </a:blip>
          <a:srcRect l="3380" t="4389" r="4010" b="2812"/>
          <a:stretch/>
        </p:blipFill>
        <p:spPr>
          <a:xfrm>
            <a:off x="2352375" y="972675"/>
            <a:ext cx="5837648" cy="38557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8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Interaction with the AI chatbot</a:t>
            </a:r>
            <a:endParaRPr/>
          </a:p>
        </p:txBody>
      </p:sp>
      <p:pic>
        <p:nvPicPr>
          <p:cNvPr id="147" name="Google Shape;14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92100" y="2462397"/>
            <a:ext cx="5520326" cy="243875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48" name="Google Shape;148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0326" y="1591200"/>
            <a:ext cx="4497675" cy="1628700"/>
          </a:xfrm>
          <a:prstGeom prst="rect">
            <a:avLst/>
          </a:prstGeom>
          <a:noFill/>
          <a:ln>
            <a:noFill/>
          </a:ln>
          <a:effectLst>
            <a:outerShdw blurRad="57150" dist="57150" dir="252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6"/>
          <p:cNvSpPr txBox="1">
            <a:spLocks noGrp="1"/>
          </p:cNvSpPr>
          <p:nvPr>
            <p:ph type="title"/>
          </p:nvPr>
        </p:nvSpPr>
        <p:spPr>
          <a:xfrm>
            <a:off x="3996000" y="393750"/>
            <a:ext cx="4665600" cy="13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Detailed, informative results</a:t>
            </a:r>
            <a:br>
              <a:rPr lang="en"/>
            </a:br>
            <a:r>
              <a:rPr lang="en"/>
              <a:t>&amp; </a:t>
            </a:r>
            <a:br>
              <a:rPr lang="en"/>
            </a:br>
            <a:r>
              <a:rPr lang="en"/>
              <a:t>Guardrail intervention</a:t>
            </a: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1551" y="471175"/>
            <a:ext cx="3306451" cy="40139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57150" dir="252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55" name="Google Shape;155;p16"/>
          <p:cNvPicPr preferRelativeResize="0"/>
          <p:nvPr/>
        </p:nvPicPr>
        <p:blipFill rotWithShape="1">
          <a:blip r:embed="rId4">
            <a:alphaModFix/>
          </a:blip>
          <a:srcRect r="4205"/>
          <a:stretch/>
        </p:blipFill>
        <p:spPr>
          <a:xfrm>
            <a:off x="2635200" y="2769375"/>
            <a:ext cx="6235200" cy="1952775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57150" dir="1326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7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57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Parking lot reservation</a:t>
            </a:r>
            <a:endParaRPr/>
          </a:p>
        </p:txBody>
      </p:sp>
      <p:pic>
        <p:nvPicPr>
          <p:cNvPr id="161" name="Google Shape;161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8475" y="1107650"/>
            <a:ext cx="5569825" cy="2898176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162" name="Google Shape;162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2450" y="2429700"/>
            <a:ext cx="4622775" cy="241955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95250" dir="1326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18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91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Saved reservation</a:t>
            </a:r>
            <a:endParaRPr/>
          </a:p>
        </p:txBody>
      </p:sp>
      <p:pic>
        <p:nvPicPr>
          <p:cNvPr id="168" name="Google Shape;168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2438" y="991325"/>
            <a:ext cx="7937775" cy="2603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0400" y="3003149"/>
            <a:ext cx="5628725" cy="1890250"/>
          </a:xfrm>
          <a:prstGeom prst="rect">
            <a:avLst/>
          </a:prstGeom>
          <a:noFill/>
          <a:ln w="9525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57150" dir="1326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9"/>
          <p:cNvSpPr txBox="1">
            <a:spLocks noGrp="1"/>
          </p:cNvSpPr>
          <p:nvPr>
            <p:ph type="title"/>
          </p:nvPr>
        </p:nvSpPr>
        <p:spPr>
          <a:xfrm>
            <a:off x="1297500" y="393750"/>
            <a:ext cx="7038900" cy="652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Evaluation</a:t>
            </a:r>
            <a:endParaRPr/>
          </a:p>
        </p:txBody>
      </p:sp>
      <p:pic>
        <p:nvPicPr>
          <p:cNvPr id="175" name="Google Shape;175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9000" y="1687875"/>
            <a:ext cx="8759251" cy="142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19"/>
          <p:cNvSpPr txBox="1"/>
          <p:nvPr/>
        </p:nvSpPr>
        <p:spPr>
          <a:xfrm>
            <a:off x="288625" y="3290450"/>
            <a:ext cx="8666400" cy="149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 u="sng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Metrics</a:t>
            </a:r>
            <a:endParaRPr sz="1300" b="1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00" b="1" u="sng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Retrieval accuracy (context_recall)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" sz="1100" i="1">
                <a:solidFill>
                  <a:srgbClr val="B7B7B7"/>
                </a:solidFill>
                <a:latin typeface="Lato"/>
                <a:ea typeface="Lato"/>
                <a:cs typeface="Lato"/>
                <a:sym typeface="Lato"/>
              </a:rPr>
              <a:t>Assesses whether the retrieval step returns the correct supporting documents.</a:t>
            </a:r>
            <a:endParaRPr sz="1100" i="1">
              <a:solidFill>
                <a:srgbClr val="B7B7B7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Faithfulness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" sz="1100" i="1">
                <a:solidFill>
                  <a:srgbClr val="B7B7B7"/>
                </a:solidFill>
                <a:latin typeface="Lato"/>
                <a:ea typeface="Lato"/>
                <a:cs typeface="Lato"/>
                <a:sym typeface="Lato"/>
              </a:rPr>
              <a:t>Checks if the generated answer is grounded in the retrieved context (i.e., not hallucinated).</a:t>
            </a:r>
            <a:endParaRPr sz="1100" i="1">
              <a:solidFill>
                <a:srgbClr val="B7B7B7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Answer relevancy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" sz="1100" i="1">
                <a:solidFill>
                  <a:srgbClr val="B7B7B7"/>
                </a:solidFill>
                <a:latin typeface="Lato"/>
                <a:ea typeface="Lato"/>
                <a:cs typeface="Lato"/>
                <a:sym typeface="Lato"/>
              </a:rPr>
              <a:t>Evaluates how relevant the generated answer is to the user’s question.</a:t>
            </a:r>
            <a:endParaRPr sz="1100" i="1">
              <a:solidFill>
                <a:srgbClr val="B7B7B7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Lato"/>
              <a:buChar char="●"/>
            </a:pPr>
            <a:r>
              <a:rPr lang="en" sz="1200" b="1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Answer correctness</a:t>
            </a:r>
            <a:r>
              <a:rPr lang="en" sz="1200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rPr>
              <a:t>: </a:t>
            </a:r>
            <a:r>
              <a:rPr lang="en" sz="1100" i="1">
                <a:solidFill>
                  <a:srgbClr val="B7B7B7"/>
                </a:solidFill>
                <a:latin typeface="Lato"/>
                <a:ea typeface="Lato"/>
                <a:cs typeface="Lato"/>
                <a:sym typeface="Lato"/>
              </a:rPr>
              <a:t>Measures if the answer is factually correct, often compared to a ground-truth answer.</a:t>
            </a:r>
            <a:endParaRPr sz="1100" i="1">
              <a:solidFill>
                <a:srgbClr val="B7B7B7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zöveg helye 2">
            <a:extLst>
              <a:ext uri="{FF2B5EF4-FFF2-40B4-BE49-F238E27FC236}">
                <a16:creationId xmlns:a16="http://schemas.microsoft.com/office/drawing/2014/main" id="{599BBDD1-7716-EBC2-394B-489C941E40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24714" y="288479"/>
            <a:ext cx="7234843" cy="445586"/>
          </a:xfrm>
        </p:spPr>
        <p:txBody>
          <a:bodyPr>
            <a:noAutofit/>
          </a:bodyPr>
          <a:lstStyle/>
          <a:p>
            <a:pPr marL="146050" indent="0">
              <a:lnSpc>
                <a:spcPct val="114999"/>
              </a:lnSpc>
              <a:buNone/>
            </a:pPr>
            <a:r>
              <a:rPr lang="hu-HU" sz="2400">
                <a:latin typeface="Montserrat"/>
              </a:rPr>
              <a:t>Admin UI for reservation management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9E46B4A-BF99-2506-5532-5283BE6DA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453" y="1039585"/>
            <a:ext cx="6508765" cy="38045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86447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0F39B9E-1A4D-9820-6FB2-8F548147B6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1671" y="328435"/>
            <a:ext cx="7038900" cy="560316"/>
          </a:xfrm>
        </p:spPr>
        <p:txBody>
          <a:bodyPr/>
          <a:lstStyle/>
          <a:p>
            <a:r>
              <a:rPr lang="hu-HU"/>
              <a:t>Admin UI for reservation approval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4188C70F-7A91-2417-9D3C-145C537CA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7042" y="951968"/>
            <a:ext cx="7407729" cy="32450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2648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0D2524B-2E5F-9C56-A194-6F692C95AF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Langgraph Workflow for Agentic processing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56394341-7F2C-B329-C0C6-6C33852E1A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4657" y="1025651"/>
            <a:ext cx="7554686" cy="3832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8779655"/>
      </p:ext>
    </p:extLst>
  </p:cSld>
  <p:clrMapOvr>
    <a:masterClrMapping/>
  </p:clrMapOvr>
</p:sld>
</file>

<file path=ppt/theme/theme1.xml><?xml version="1.0" encoding="utf-8"?>
<a:theme xmlns:a="http://schemas.openxmlformats.org/drawingml/2006/main" name="Focus">
  <a:themeElements>
    <a:clrScheme name="Focus">
      <a:dk1>
        <a:srgbClr val="1B212C"/>
      </a:dk1>
      <a:lt1>
        <a:srgbClr val="FFFFFF"/>
      </a:lt1>
      <a:dk2>
        <a:srgbClr val="D9D9D9"/>
      </a:dk2>
      <a:lt2>
        <a:srgbClr val="82C7A5"/>
      </a:lt2>
      <a:accent1>
        <a:srgbClr val="0145AC"/>
      </a:accent1>
      <a:accent2>
        <a:srgbClr val="EECE1A"/>
      </a:accent2>
      <a:accent3>
        <a:srgbClr val="4E5567"/>
      </a:accent3>
      <a:accent4>
        <a:srgbClr val="F4D6AD"/>
      </a:accent4>
      <a:accent5>
        <a:srgbClr val="7890CD"/>
      </a:accent5>
      <a:accent6>
        <a:srgbClr val="F15E22"/>
      </a:accent6>
      <a:hlink>
        <a:srgbClr val="7890CD"/>
      </a:hlink>
      <a:folHlink>
        <a:srgbClr val="7890C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Diavetítés a képernyőre (16:9 oldalarány)</PresentationFormat>
  <Slides>10</Slides>
  <Notes>7</Notes>
  <HiddenSlides>0</HiddenSlides>
  <ScaleCrop>false</ScaleCrop>
  <HeadingPairs>
    <vt:vector size="4" baseType="variant">
      <vt:variant>
        <vt:lpstr>Téma</vt:lpstr>
      </vt:variant>
      <vt:variant>
        <vt:i4>1</vt:i4>
      </vt:variant>
      <vt:variant>
        <vt:lpstr>Diacímek</vt:lpstr>
      </vt:variant>
      <vt:variant>
        <vt:i4>10</vt:i4>
      </vt:variant>
    </vt:vector>
  </HeadingPairs>
  <TitlesOfParts>
    <vt:vector size="11" baseType="lpstr">
      <vt:lpstr>Focus</vt:lpstr>
      <vt:lpstr>APSR AI assisted Parking Space Reservation</vt:lpstr>
      <vt:lpstr>Intuitive User Interface</vt:lpstr>
      <vt:lpstr>Interaction with the AI chatbot</vt:lpstr>
      <vt:lpstr>Detailed, informative results &amp;  Guardrail intervention</vt:lpstr>
      <vt:lpstr>Parking lot reservation</vt:lpstr>
      <vt:lpstr>Saved reservation</vt:lpstr>
      <vt:lpstr>Evaluation</vt:lpstr>
      <vt:lpstr>PowerPoint-bemutató</vt:lpstr>
      <vt:lpstr>Admin UI for reservation approval</vt:lpstr>
      <vt:lpstr>Langgraph Workflow for Agentic processing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53</cp:revision>
  <dcterms:modified xsi:type="dcterms:W3CDTF">2026-07-27T19:32:01Z</dcterms:modified>
</cp:coreProperties>
</file>